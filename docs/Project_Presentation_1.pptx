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D13BBB5-13FC-4D22-8247-2A86D3AAB60B}">
          <p14:sldIdLst>
            <p14:sldId id="256"/>
            <p14:sldId id="257"/>
            <p14:sldId id="258"/>
            <p14:sldId id="259"/>
            <p14:sldId id="260"/>
            <p14:sldId id="261"/>
            <p14:sldId id="262"/>
            <p14:sldId id="263"/>
            <p14:sldId id="264"/>
            <p14:sldId id="265"/>
            <p14:sldId id="266"/>
            <p14:sldId id="267"/>
            <p14:sldId id="269"/>
            <p14:sldId id="268"/>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71" d="100"/>
          <a:sy n="71" d="100"/>
        </p:scale>
        <p:origin x="488"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8CF54-16EF-49D9-8172-E4860F2EA17A}" type="datetimeFigureOut">
              <a:rPr lang="en-IN" smtClean="0"/>
              <a:t>28-04-2025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4CC828-1B9A-4AEC-98E0-C623AF5C639B}" type="slidenum">
              <a:rPr lang="en-IN" smtClean="0"/>
              <a:t>‹#›</a:t>
            </a:fld>
            <a:endParaRPr lang="en-IN" dirty="0"/>
          </a:p>
        </p:txBody>
      </p:sp>
    </p:spTree>
    <p:extLst>
      <p:ext uri="{BB962C8B-B14F-4D97-AF65-F5344CB8AC3E}">
        <p14:creationId xmlns:p14="http://schemas.microsoft.com/office/powerpoint/2010/main" val="2404650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04CC828-1B9A-4AEC-98E0-C623AF5C639B}" type="slidenum">
              <a:rPr lang="en-IN" smtClean="0"/>
              <a:t>1</a:t>
            </a:fld>
            <a:endParaRPr lang="en-IN" dirty="0"/>
          </a:p>
        </p:txBody>
      </p:sp>
    </p:spTree>
    <p:extLst>
      <p:ext uri="{BB962C8B-B14F-4D97-AF65-F5344CB8AC3E}">
        <p14:creationId xmlns:p14="http://schemas.microsoft.com/office/powerpoint/2010/main" val="1029080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FCEF8-F63B-CC59-E7D3-2B8A5B3E14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49E43FD-8189-188A-B661-A0A93011E4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277F756-3921-7B54-10D3-C9933C02AB27}"/>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5" name="Footer Placeholder 4">
            <a:extLst>
              <a:ext uri="{FF2B5EF4-FFF2-40B4-BE49-F238E27FC236}">
                <a16:creationId xmlns:a16="http://schemas.microsoft.com/office/drawing/2014/main" id="{248A9E77-ABFE-0846-5007-E0810ECB161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48F6C84-1FCE-C3A5-F789-D90B3F181AF8}"/>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2515995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53211-1077-1EB5-9CC9-8723347DC9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AF936CC-1B59-F0C1-5B98-431D0F8D99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C91A2A-3225-4CAB-2BB2-B4A89F881C03}"/>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5" name="Footer Placeholder 4">
            <a:extLst>
              <a:ext uri="{FF2B5EF4-FFF2-40B4-BE49-F238E27FC236}">
                <a16:creationId xmlns:a16="http://schemas.microsoft.com/office/drawing/2014/main" id="{697573FD-C9F5-6F02-8F23-88BC2206280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7FC6DB5-66FB-C94B-F09B-807E585AE288}"/>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2257591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CE963-0206-E751-D2CF-36F3111C73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0014E67-04D9-5754-CB6A-0C7BFA546C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0D45F2-CBEE-D08D-F181-73A837CEC3EB}"/>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5" name="Footer Placeholder 4">
            <a:extLst>
              <a:ext uri="{FF2B5EF4-FFF2-40B4-BE49-F238E27FC236}">
                <a16:creationId xmlns:a16="http://schemas.microsoft.com/office/drawing/2014/main" id="{FB00BBAE-8BD4-DD7C-2092-CC1019BC58D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F5DFCE7-A9D6-A96C-D800-00B94D592ADF}"/>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3958398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C3422-DAC3-19E1-F0F5-E157034267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8ACA73-63CD-2853-932D-1636DC2048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CBD676F-AB5A-4416-372C-FF5380CD87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D04562-7D22-47B8-A5A9-6CE5BC9FDB2A}"/>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6" name="Footer Placeholder 5">
            <a:extLst>
              <a:ext uri="{FF2B5EF4-FFF2-40B4-BE49-F238E27FC236}">
                <a16:creationId xmlns:a16="http://schemas.microsoft.com/office/drawing/2014/main" id="{2D0574FD-EF8D-4565-5867-82FAB4A1624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2F4F9CE-7261-1B6D-EFC1-2F5225DDB20E}"/>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4292356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78273-151B-CC92-B4E4-46680CA675B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673AB3-F52E-8F74-4110-8E87CC6080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8CB898-29AF-0F7B-F7AA-47CA8A9C6F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FB6C0D-BCAF-D710-79AA-C87020705E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CF40EB-1277-730D-CFA8-8E7DDA1848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BCB77E6-4E7A-28A4-4EA4-567BF4FD3F3B}"/>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8" name="Footer Placeholder 7">
            <a:extLst>
              <a:ext uri="{FF2B5EF4-FFF2-40B4-BE49-F238E27FC236}">
                <a16:creationId xmlns:a16="http://schemas.microsoft.com/office/drawing/2014/main" id="{014634E9-E63D-3C5D-BE96-16450954886B}"/>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350F828D-D36B-7E9B-4A1D-C45E656244C0}"/>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888347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47113-63AE-B6F0-8828-7E70BE782E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F66FA25-7696-3FC0-D076-2D03BD7D4A2F}"/>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4" name="Footer Placeholder 3">
            <a:extLst>
              <a:ext uri="{FF2B5EF4-FFF2-40B4-BE49-F238E27FC236}">
                <a16:creationId xmlns:a16="http://schemas.microsoft.com/office/drawing/2014/main" id="{DA18DDC6-C5A3-6CD8-437E-364B77BB1F91}"/>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14DE115A-9D3B-A89B-9EB0-96273052D202}"/>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882350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46FEBD-2B88-96BE-38C6-B79F24BE3B74}"/>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3" name="Footer Placeholder 2">
            <a:extLst>
              <a:ext uri="{FF2B5EF4-FFF2-40B4-BE49-F238E27FC236}">
                <a16:creationId xmlns:a16="http://schemas.microsoft.com/office/drawing/2014/main" id="{4D6A203E-3AED-29DA-C2CC-CBFE7990C4F1}"/>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C9D11448-3D24-0101-1C0A-161FE3F02C16}"/>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551531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7CD7B-05A8-3E5F-7840-298B134FB2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3B8540-BB05-4616-DB09-3E7FB22410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01C587-0293-1041-F902-DFC93E73F0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B9D50E-E130-BAB6-48FF-2BBFF6A62879}"/>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6" name="Footer Placeholder 5">
            <a:extLst>
              <a:ext uri="{FF2B5EF4-FFF2-40B4-BE49-F238E27FC236}">
                <a16:creationId xmlns:a16="http://schemas.microsoft.com/office/drawing/2014/main" id="{866C8C91-5B1C-E55B-C766-7C6B8D61613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D500A34-6305-695F-6158-EB042B0A682E}"/>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2667158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F383E-56F2-0B0E-0AFB-63F8C9C12A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3977F8-DC9B-2C82-EC58-54F20B6E59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4FC22515-41B6-38F1-9EDA-55E5AB7678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153996-7863-1F5A-9FF8-F0BADC5A1AB8}"/>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6" name="Footer Placeholder 5">
            <a:extLst>
              <a:ext uri="{FF2B5EF4-FFF2-40B4-BE49-F238E27FC236}">
                <a16:creationId xmlns:a16="http://schemas.microsoft.com/office/drawing/2014/main" id="{A04C71B8-248D-0889-C8D3-E5BBD3BAC9F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C87C3A9-46EC-7B2E-0055-CD278FF46EEC}"/>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2780438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5ABE-31FB-A104-1A54-1E778D87F78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87B567-8AD9-36EA-A224-7A81A35A93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F536F6-CE91-924B-DB3A-48F56BE738B1}"/>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5" name="Footer Placeholder 4">
            <a:extLst>
              <a:ext uri="{FF2B5EF4-FFF2-40B4-BE49-F238E27FC236}">
                <a16:creationId xmlns:a16="http://schemas.microsoft.com/office/drawing/2014/main" id="{AF4F9EE3-75EE-9E10-E7C2-47BD05D1CB3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1EAAC10-55BA-1357-F16C-F112BC070787}"/>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3661928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6DAB94-EA7D-8B64-75FB-FEEA672252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40CB59-038C-E3A0-1A1B-D301DEABC5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41FC7D-6C75-7847-EFF6-B2211815C56E}"/>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5" name="Footer Placeholder 4">
            <a:extLst>
              <a:ext uri="{FF2B5EF4-FFF2-40B4-BE49-F238E27FC236}">
                <a16:creationId xmlns:a16="http://schemas.microsoft.com/office/drawing/2014/main" id="{CCFC53A1-FD75-3336-478D-68FDFD79C5B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5C5F773-0569-280C-1E05-A265F5D354AF}"/>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1585995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84E12E-ACFF-9010-0152-94B1EFDAAF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88369C-69D3-AC23-6D57-38A7B144EF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D00697-FA61-54AA-F9FC-2910703E6C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672A2C-BB6A-461B-8564-FCACB165680B}" type="datetimeFigureOut">
              <a:rPr lang="en-IN" smtClean="0"/>
              <a:t>28-04-2025</a:t>
            </a:fld>
            <a:endParaRPr lang="en-IN" dirty="0"/>
          </a:p>
        </p:txBody>
      </p:sp>
      <p:sp>
        <p:nvSpPr>
          <p:cNvPr id="5" name="Footer Placeholder 4">
            <a:extLst>
              <a:ext uri="{FF2B5EF4-FFF2-40B4-BE49-F238E27FC236}">
                <a16:creationId xmlns:a16="http://schemas.microsoft.com/office/drawing/2014/main" id="{A0094456-3C9F-0219-3077-0770AB8A89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E4C26DD9-D3C0-1C20-815A-464D4D3EC4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25BC1C-4BE5-4E7B-BC8A-37A528F0FE86}" type="slidenum">
              <a:rPr lang="en-IN" smtClean="0"/>
              <a:t>‹#›</a:t>
            </a:fld>
            <a:endParaRPr lang="en-IN" dirty="0"/>
          </a:p>
        </p:txBody>
      </p:sp>
    </p:spTree>
    <p:extLst>
      <p:ext uri="{BB962C8B-B14F-4D97-AF65-F5344CB8AC3E}">
        <p14:creationId xmlns:p14="http://schemas.microsoft.com/office/powerpoint/2010/main" val="3302603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image" Target="../media/image8.jpg"/><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jp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4BAED0-BB1D-C8F6-6DB5-9D5AB2D4AD83}"/>
              </a:ext>
            </a:extLst>
          </p:cNvPr>
          <p:cNvSpPr>
            <a:spLocks noChangeArrowheads="1"/>
          </p:cNvSpPr>
          <p:nvPr/>
        </p:nvSpPr>
        <p:spPr bwMode="auto">
          <a:xfrm>
            <a:off x="345141" y="252913"/>
            <a:ext cx="11905130" cy="6208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22218"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4800" b="1" i="0" u="none" strike="noStrike" cap="none" normalizeH="0" baseline="0" dirty="0">
                <a:ln>
                  <a:noFill/>
                </a:ln>
                <a:solidFill>
                  <a:srgbClr val="1B1C1D"/>
                </a:solidFill>
                <a:effectLst/>
                <a:latin typeface="Calibri  "/>
                <a:cs typeface="Times New Roman" panose="02020603050405020304" pitchFamily="18" charset="0"/>
              </a:rPr>
              <a:t>TITLE:</a:t>
            </a:r>
            <a:r>
              <a:rPr kumimoji="0" lang="en-US" altLang="en-US" sz="4800" b="0" i="0" u="none" strike="noStrike" cap="none" normalizeH="0" baseline="0" dirty="0">
                <a:ln>
                  <a:noFill/>
                </a:ln>
                <a:solidFill>
                  <a:srgbClr val="1B1C1D"/>
                </a:solidFill>
                <a:effectLst/>
                <a:latin typeface="Calibri  "/>
                <a:cs typeface="Times New Roman" panose="02020603050405020304" pitchFamily="18" charset="0"/>
              </a:rPr>
              <a:t> PCB Designing using Altium Designer</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3200" b="0" u="none" strike="noStrike" cap="none" normalizeH="0" baseline="0" dirty="0">
                <a:ln>
                  <a:noFill/>
                </a:ln>
                <a:solidFill>
                  <a:srgbClr val="1B1C1D"/>
                </a:solidFill>
                <a:effectLst/>
                <a:latin typeface="Calibri  "/>
                <a:cs typeface="Times New Roman" panose="02020603050405020304" pitchFamily="18" charset="0"/>
              </a:rPr>
              <a:t> Single Layer to Multi Layer</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2800" b="1" i="0" u="none" strike="noStrike" cap="none" normalizeH="0" baseline="0" dirty="0">
                <a:ln>
                  <a:noFill/>
                </a:ln>
                <a:solidFill>
                  <a:srgbClr val="1B1C1D"/>
                </a:solidFill>
                <a:effectLst/>
                <a:latin typeface="Calibri  "/>
                <a:cs typeface="Times New Roman" panose="02020603050405020304" pitchFamily="18" charset="0"/>
              </a:rPr>
              <a:t> Presenters:</a:t>
            </a:r>
            <a:endParaRPr kumimoji="0" lang="en-US" altLang="en-US" sz="2800" b="0" i="0" u="none" strike="noStrike" cap="none" normalizeH="0" baseline="0" dirty="0">
              <a:ln>
                <a:noFill/>
              </a:ln>
              <a:solidFill>
                <a:srgbClr val="1B1C1D"/>
              </a:solidFill>
              <a:effectLst/>
              <a:latin typeface="Calibri  "/>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800" b="0" i="0" u="none" strike="noStrike" cap="none" normalizeH="0" baseline="0" dirty="0">
                <a:ln>
                  <a:noFill/>
                </a:ln>
                <a:solidFill>
                  <a:srgbClr val="1B1C1D"/>
                </a:solidFill>
                <a:effectLst/>
                <a:latin typeface="Calibri  "/>
                <a:cs typeface="Times New Roman" panose="02020603050405020304" pitchFamily="18" charset="0"/>
              </a:rPr>
              <a:t> Praneeth (1602-23-735-089)</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800" b="0" i="0" u="none" strike="noStrike" cap="none" normalizeH="0" baseline="0" dirty="0">
                <a:ln>
                  <a:noFill/>
                </a:ln>
                <a:solidFill>
                  <a:srgbClr val="1B1C1D"/>
                </a:solidFill>
                <a:effectLst/>
                <a:latin typeface="Calibri  "/>
                <a:cs typeface="Times New Roman" panose="02020603050405020304" pitchFamily="18" charset="0"/>
              </a:rPr>
              <a:t> Rohit        (1602-23-735-095)</a:t>
            </a:r>
          </a:p>
          <a:p>
            <a:pPr marL="0" marR="0" lvl="0" indent="0" defTabSz="914400" rtl="0" eaLnBrk="0" fontAlgn="base" latinLnBrk="0" hangingPunct="0">
              <a:lnSpc>
                <a:spcPct val="200000"/>
              </a:lnSpc>
              <a:spcBef>
                <a:spcPct val="0"/>
              </a:spcBef>
              <a:spcAft>
                <a:spcPct val="0"/>
              </a:spcAft>
              <a:buClrTx/>
              <a:buSzTx/>
              <a:buFontTx/>
              <a:buChar char="•"/>
              <a:tabLst/>
            </a:pPr>
            <a:r>
              <a:rPr kumimoji="0" lang="en-US" altLang="en-US" sz="2800" b="0" i="0" u="none" strike="noStrike" cap="none" normalizeH="0" baseline="0" dirty="0">
                <a:ln>
                  <a:noFill/>
                </a:ln>
                <a:solidFill>
                  <a:srgbClr val="1B1C1D"/>
                </a:solidFill>
                <a:effectLst/>
                <a:latin typeface="Calibri  "/>
                <a:cs typeface="Times New Roman" panose="02020603050405020304" pitchFamily="18" charset="0"/>
              </a:rPr>
              <a:t> Vivek        (1602-23-735-127)</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alibri  "/>
            </a:endParaRPr>
          </a:p>
        </p:txBody>
      </p:sp>
    </p:spTree>
    <p:extLst>
      <p:ext uri="{BB962C8B-B14F-4D97-AF65-F5344CB8AC3E}">
        <p14:creationId xmlns:p14="http://schemas.microsoft.com/office/powerpoint/2010/main" val="1235182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F1828E-1FF0-EE01-866F-9D541D875199}"/>
              </a:ext>
            </a:extLst>
          </p:cNvPr>
          <p:cNvSpPr txBox="1"/>
          <p:nvPr/>
        </p:nvSpPr>
        <p:spPr>
          <a:xfrm>
            <a:off x="158581" y="-171921"/>
            <a:ext cx="12318052" cy="7431265"/>
          </a:xfrm>
          <a:prstGeom prst="rect">
            <a:avLst/>
          </a:prstGeom>
          <a:noFill/>
        </p:spPr>
        <p:txBody>
          <a:bodyPr wrap="square" rtlCol="0">
            <a:spAutoFit/>
          </a:bodyPr>
          <a:lstStyle/>
          <a:p>
            <a:pPr>
              <a:lnSpc>
                <a:spcPct val="150000"/>
              </a:lnSpc>
            </a:pPr>
            <a:r>
              <a:rPr lang="en-IN" sz="4400" b="1" dirty="0"/>
              <a:t>Contents:</a:t>
            </a:r>
          </a:p>
          <a:p>
            <a:pPr marL="342900" indent="-342900">
              <a:lnSpc>
                <a:spcPct val="150000"/>
              </a:lnSpc>
              <a:buFont typeface="Wingdings" panose="05000000000000000000" pitchFamily="2" charset="2"/>
              <a:buChar char="Ø"/>
            </a:pPr>
            <a:r>
              <a:rPr lang="en-IN" sz="3200" dirty="0"/>
              <a:t> Introduction</a:t>
            </a:r>
          </a:p>
          <a:p>
            <a:pPr marL="342900" indent="-342900">
              <a:lnSpc>
                <a:spcPct val="150000"/>
              </a:lnSpc>
              <a:buFont typeface="Wingdings" panose="05000000000000000000" pitchFamily="2" charset="2"/>
              <a:buChar char="Ø"/>
            </a:pPr>
            <a:r>
              <a:rPr lang="en-IN" sz="3200" dirty="0"/>
              <a:t> Aim &amp; Objectives</a:t>
            </a:r>
          </a:p>
          <a:p>
            <a:pPr marL="342900" indent="-342900">
              <a:lnSpc>
                <a:spcPct val="150000"/>
              </a:lnSpc>
              <a:buFont typeface="Wingdings" panose="05000000000000000000" pitchFamily="2" charset="2"/>
              <a:buChar char="Ø"/>
            </a:pPr>
            <a:r>
              <a:rPr lang="en-IN" sz="3200" dirty="0"/>
              <a:t> Literature Survey</a:t>
            </a:r>
          </a:p>
          <a:p>
            <a:pPr marL="342900" indent="-342900">
              <a:lnSpc>
                <a:spcPct val="150000"/>
              </a:lnSpc>
              <a:buFont typeface="Wingdings" panose="05000000000000000000" pitchFamily="2" charset="2"/>
              <a:buChar char="Ø"/>
            </a:pPr>
            <a:r>
              <a:rPr lang="en-IN" sz="3200" dirty="0"/>
              <a:t> Proposed Designs (Single and Multi-layer)</a:t>
            </a:r>
          </a:p>
          <a:p>
            <a:pPr marL="342900" indent="-342900">
              <a:lnSpc>
                <a:spcPct val="150000"/>
              </a:lnSpc>
              <a:buFont typeface="Wingdings" panose="05000000000000000000" pitchFamily="2" charset="2"/>
              <a:buChar char="Ø"/>
            </a:pPr>
            <a:r>
              <a:rPr lang="en-IN" sz="3200" dirty="0"/>
              <a:t> Implementation (Single and Multi-layer)</a:t>
            </a:r>
          </a:p>
          <a:p>
            <a:pPr marL="342900" indent="-342900">
              <a:lnSpc>
                <a:spcPct val="150000"/>
              </a:lnSpc>
              <a:buFont typeface="Wingdings" panose="05000000000000000000" pitchFamily="2" charset="2"/>
              <a:buChar char="Ø"/>
            </a:pPr>
            <a:r>
              <a:rPr lang="en-IN" sz="3200" dirty="0"/>
              <a:t> Results (Single and Multi-layer)</a:t>
            </a:r>
          </a:p>
          <a:p>
            <a:pPr marL="342900" indent="-342900">
              <a:lnSpc>
                <a:spcPct val="150000"/>
              </a:lnSpc>
              <a:buFont typeface="Wingdings" panose="05000000000000000000" pitchFamily="2" charset="2"/>
              <a:buChar char="Ø"/>
            </a:pPr>
            <a:r>
              <a:rPr lang="en-IN" sz="3200" dirty="0"/>
              <a:t> Conclusion &amp; Future Scope</a:t>
            </a:r>
          </a:p>
          <a:p>
            <a:pPr marL="342900" indent="-342900">
              <a:lnSpc>
                <a:spcPct val="150000"/>
              </a:lnSpc>
              <a:buFont typeface="Wingdings" panose="05000000000000000000" pitchFamily="2" charset="2"/>
              <a:buChar char="Ø"/>
            </a:pPr>
            <a:r>
              <a:rPr lang="en-IN" sz="3200" dirty="0"/>
              <a:t> References</a:t>
            </a:r>
            <a:br>
              <a:rPr lang="en-IN" sz="2000" dirty="0"/>
            </a:br>
            <a:endParaRPr lang="en-IN" sz="2000" dirty="0"/>
          </a:p>
        </p:txBody>
      </p:sp>
    </p:spTree>
    <p:extLst>
      <p:ext uri="{BB962C8B-B14F-4D97-AF65-F5344CB8AC3E}">
        <p14:creationId xmlns:p14="http://schemas.microsoft.com/office/powerpoint/2010/main" val="705085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CE8E7D-210F-87EF-7E06-85081C43BD6B}"/>
              </a:ext>
            </a:extLst>
          </p:cNvPr>
          <p:cNvSpPr txBox="1"/>
          <p:nvPr/>
        </p:nvSpPr>
        <p:spPr>
          <a:xfrm>
            <a:off x="210671" y="-219996"/>
            <a:ext cx="11770658" cy="7144713"/>
          </a:xfrm>
          <a:prstGeom prst="rect">
            <a:avLst/>
          </a:prstGeom>
          <a:noFill/>
        </p:spPr>
        <p:txBody>
          <a:bodyPr wrap="square" rtlCol="0">
            <a:spAutoFit/>
          </a:bodyPr>
          <a:lstStyle/>
          <a:p>
            <a:pPr>
              <a:lnSpc>
                <a:spcPct val="150000"/>
              </a:lnSpc>
            </a:pPr>
            <a:r>
              <a:rPr lang="en-IN" sz="4400" b="1" dirty="0"/>
              <a:t>Introduction</a:t>
            </a:r>
          </a:p>
          <a:p>
            <a:pPr marL="457200" indent="-457200">
              <a:lnSpc>
                <a:spcPct val="150000"/>
              </a:lnSpc>
              <a:buFont typeface="Wingdings" panose="05000000000000000000" pitchFamily="2" charset="2"/>
              <a:buChar char="§"/>
            </a:pPr>
            <a:r>
              <a:rPr lang="en-IN" sz="3200" dirty="0"/>
              <a:t>PCB:</a:t>
            </a:r>
            <a:br>
              <a:rPr lang="en-IN" dirty="0"/>
            </a:br>
            <a:r>
              <a:rPr lang="en-US" sz="2400" dirty="0"/>
              <a:t>Printed Circuit Boards connect electronic components using copper tracks. They form the foundation of every electronic device, providing support and connectivity.</a:t>
            </a:r>
            <a:endParaRPr lang="en-IN" sz="2400" dirty="0"/>
          </a:p>
          <a:p>
            <a:pPr marL="457200" indent="-457200">
              <a:lnSpc>
                <a:spcPct val="150000"/>
              </a:lnSpc>
              <a:buFont typeface="Wingdings" panose="05000000000000000000" pitchFamily="2" charset="2"/>
              <a:buChar char="§"/>
            </a:pPr>
            <a:r>
              <a:rPr lang="en-IN" sz="3200" dirty="0"/>
              <a:t>Altium Designer:</a:t>
            </a:r>
          </a:p>
          <a:p>
            <a:pPr>
              <a:lnSpc>
                <a:spcPct val="150000"/>
              </a:lnSpc>
            </a:pPr>
            <a:r>
              <a:rPr lang="en-US" sz="2400" dirty="0"/>
              <a:t>       Altium Designer is a professional PCB software that allows schematic design, layout,</a:t>
            </a:r>
          </a:p>
          <a:p>
            <a:pPr>
              <a:lnSpc>
                <a:spcPct val="150000"/>
              </a:lnSpc>
            </a:pPr>
            <a:r>
              <a:rPr lang="en-US" sz="2400" dirty="0"/>
              <a:t>       simulation, and 3D visualization for manufacturing-ready designs.</a:t>
            </a:r>
          </a:p>
          <a:p>
            <a:pPr>
              <a:lnSpc>
                <a:spcPct val="150000"/>
              </a:lnSpc>
            </a:pPr>
            <a:endParaRPr lang="en-US" sz="2400" dirty="0"/>
          </a:p>
          <a:p>
            <a:pPr marL="457200" indent="-457200">
              <a:lnSpc>
                <a:spcPct val="150000"/>
              </a:lnSpc>
              <a:buFont typeface="Wingdings" panose="05000000000000000000" pitchFamily="2" charset="2"/>
              <a:buChar char="§"/>
            </a:pPr>
            <a:r>
              <a:rPr lang="en-US" sz="3200" dirty="0"/>
              <a:t>Why only Home Automation? </a:t>
            </a:r>
            <a:br>
              <a:rPr lang="en-US" dirty="0"/>
            </a:br>
            <a:r>
              <a:rPr lang="en-US" sz="2400" dirty="0"/>
              <a:t>Home automation uses IoT technologies to control appliances remotely. It improves comfort, saves energy, and is becoming a major trend in smart living.</a:t>
            </a:r>
            <a:endParaRPr lang="en-IN" sz="2400" dirty="0"/>
          </a:p>
        </p:txBody>
      </p:sp>
    </p:spTree>
    <p:extLst>
      <p:ext uri="{BB962C8B-B14F-4D97-AF65-F5344CB8AC3E}">
        <p14:creationId xmlns:p14="http://schemas.microsoft.com/office/powerpoint/2010/main" val="1481982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2769AF-3F3C-5A30-5B53-6232255F38BD}"/>
              </a:ext>
            </a:extLst>
          </p:cNvPr>
          <p:cNvSpPr txBox="1"/>
          <p:nvPr/>
        </p:nvSpPr>
        <p:spPr>
          <a:xfrm>
            <a:off x="192506" y="0"/>
            <a:ext cx="11954576" cy="6267550"/>
          </a:xfrm>
          <a:prstGeom prst="rect">
            <a:avLst/>
          </a:prstGeom>
          <a:noFill/>
        </p:spPr>
        <p:txBody>
          <a:bodyPr wrap="square" rtlCol="0">
            <a:spAutoFit/>
          </a:bodyPr>
          <a:lstStyle/>
          <a:p>
            <a:pPr>
              <a:lnSpc>
                <a:spcPct val="150000"/>
              </a:lnSpc>
            </a:pPr>
            <a:r>
              <a:rPr lang="en-IN" sz="4400" b="1" dirty="0"/>
              <a:t>Aim &amp; Objectives</a:t>
            </a:r>
          </a:p>
          <a:p>
            <a:pPr marL="457200" indent="-457200">
              <a:lnSpc>
                <a:spcPct val="150000"/>
              </a:lnSpc>
              <a:buFont typeface="Wingdings" panose="05000000000000000000" pitchFamily="2" charset="2"/>
              <a:buChar char="§"/>
            </a:pPr>
            <a:r>
              <a:rPr lang="en-IN" sz="3200" dirty="0"/>
              <a:t>Aim:</a:t>
            </a:r>
          </a:p>
          <a:p>
            <a:pPr>
              <a:lnSpc>
                <a:spcPct val="150000"/>
              </a:lnSpc>
            </a:pPr>
            <a:r>
              <a:rPr lang="en-US" sz="2400" dirty="0"/>
              <a:t>       To design and develop a reliable PCB for smart home control using ESP32 Micro-controller</a:t>
            </a:r>
          </a:p>
          <a:p>
            <a:pPr>
              <a:lnSpc>
                <a:spcPct val="150000"/>
              </a:lnSpc>
            </a:pPr>
            <a:r>
              <a:rPr lang="en-US" sz="2400" dirty="0"/>
              <a:t>       and Altium Designer.</a:t>
            </a:r>
            <a:br>
              <a:rPr lang="en-IN" dirty="0"/>
            </a:br>
            <a:endParaRPr lang="en-IN" dirty="0"/>
          </a:p>
          <a:p>
            <a:pPr marL="457200" indent="-457200">
              <a:lnSpc>
                <a:spcPct val="150000"/>
              </a:lnSpc>
              <a:buFont typeface="Wingdings" panose="05000000000000000000" pitchFamily="2" charset="2"/>
              <a:buChar char="§"/>
            </a:pPr>
            <a:r>
              <a:rPr lang="en-IN" sz="3200" dirty="0"/>
              <a:t>Objectives:</a:t>
            </a:r>
          </a:p>
          <a:p>
            <a:pPr>
              <a:lnSpc>
                <a:spcPct val="150000"/>
              </a:lnSpc>
            </a:pPr>
            <a:r>
              <a:rPr lang="en-US" sz="2400" dirty="0"/>
              <a:t>       Create a single and multilayer PCB.</a:t>
            </a:r>
          </a:p>
          <a:p>
            <a:pPr>
              <a:lnSpc>
                <a:spcPct val="150000"/>
              </a:lnSpc>
            </a:pPr>
            <a:r>
              <a:rPr lang="en-US" sz="2400" dirty="0"/>
              <a:t>       Interface relay modules for appliance control.</a:t>
            </a:r>
          </a:p>
          <a:p>
            <a:pPr>
              <a:lnSpc>
                <a:spcPct val="150000"/>
              </a:lnSpc>
            </a:pPr>
            <a:r>
              <a:rPr lang="en-US" sz="2400" dirty="0"/>
              <a:t>       Ensure manual switch control is available.</a:t>
            </a:r>
          </a:p>
          <a:p>
            <a:pPr>
              <a:lnSpc>
                <a:spcPct val="150000"/>
              </a:lnSpc>
            </a:pPr>
            <a:r>
              <a:rPr lang="en-US" sz="2400" dirty="0"/>
              <a:t>       Build an efficient power supply circuit</a:t>
            </a:r>
            <a:r>
              <a:rPr lang="en-US" dirty="0"/>
              <a:t>.</a:t>
            </a:r>
            <a:endParaRPr lang="en-IN" dirty="0"/>
          </a:p>
        </p:txBody>
      </p:sp>
    </p:spTree>
    <p:extLst>
      <p:ext uri="{BB962C8B-B14F-4D97-AF65-F5344CB8AC3E}">
        <p14:creationId xmlns:p14="http://schemas.microsoft.com/office/powerpoint/2010/main" val="550678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EC6DF2-A00F-66B7-B5D1-F2CF4D9BD063}"/>
              </a:ext>
            </a:extLst>
          </p:cNvPr>
          <p:cNvSpPr txBox="1"/>
          <p:nvPr/>
        </p:nvSpPr>
        <p:spPr>
          <a:xfrm>
            <a:off x="113899" y="-33688"/>
            <a:ext cx="11964202" cy="6590715"/>
          </a:xfrm>
          <a:prstGeom prst="rect">
            <a:avLst/>
          </a:prstGeom>
          <a:noFill/>
        </p:spPr>
        <p:txBody>
          <a:bodyPr wrap="square" rtlCol="0">
            <a:spAutoFit/>
          </a:bodyPr>
          <a:lstStyle/>
          <a:p>
            <a:pPr>
              <a:lnSpc>
                <a:spcPct val="150000"/>
              </a:lnSpc>
            </a:pPr>
            <a:r>
              <a:rPr lang="en-IN" sz="4400" b="1" dirty="0"/>
              <a:t>Literature Survey</a:t>
            </a:r>
          </a:p>
          <a:p>
            <a:pPr marL="457200" indent="-457200">
              <a:lnSpc>
                <a:spcPct val="150000"/>
              </a:lnSpc>
              <a:buFont typeface="Wingdings" panose="05000000000000000000" pitchFamily="2" charset="2"/>
              <a:buChar char="§"/>
            </a:pPr>
            <a:r>
              <a:rPr lang="en-IN" sz="3200" dirty="0"/>
              <a:t>Importance of PCB in software Design:</a:t>
            </a:r>
          </a:p>
          <a:p>
            <a:pPr>
              <a:lnSpc>
                <a:spcPct val="150000"/>
              </a:lnSpc>
            </a:pPr>
            <a:r>
              <a:rPr lang="en-US" sz="2400" dirty="0"/>
              <a:t>       To design and develop a reliable PCB for smart home control using ESP32 and Altium</a:t>
            </a:r>
          </a:p>
          <a:p>
            <a:pPr>
              <a:lnSpc>
                <a:spcPct val="150000"/>
              </a:lnSpc>
            </a:pPr>
            <a:r>
              <a:rPr lang="en-US" sz="2400" dirty="0"/>
              <a:t>       Designer.</a:t>
            </a:r>
            <a:endParaRPr lang="en-IN" sz="2400" dirty="0"/>
          </a:p>
          <a:p>
            <a:pPr marL="457200" indent="-457200">
              <a:lnSpc>
                <a:spcPct val="150000"/>
              </a:lnSpc>
              <a:buFont typeface="Wingdings" panose="05000000000000000000" pitchFamily="2" charset="2"/>
              <a:buChar char="§"/>
            </a:pPr>
            <a:r>
              <a:rPr lang="en-IN" sz="3200" dirty="0"/>
              <a:t>Altium Designer Special Features:</a:t>
            </a:r>
          </a:p>
          <a:p>
            <a:pPr>
              <a:lnSpc>
                <a:spcPct val="150000"/>
              </a:lnSpc>
            </a:pPr>
            <a:r>
              <a:rPr lang="en-US" sz="2400" dirty="0"/>
              <a:t>       Altium offers real-time error checking, large component libraries, advanced routing tools,</a:t>
            </a:r>
          </a:p>
          <a:p>
            <a:pPr>
              <a:lnSpc>
                <a:spcPct val="150000"/>
              </a:lnSpc>
            </a:pPr>
            <a:r>
              <a:rPr lang="en-US" sz="2400" dirty="0"/>
              <a:t>       and full 3D previews for professional PCB creation.</a:t>
            </a:r>
            <a:endParaRPr lang="en-IN" sz="2400" dirty="0"/>
          </a:p>
          <a:p>
            <a:pPr marL="457200" indent="-457200">
              <a:lnSpc>
                <a:spcPct val="150000"/>
              </a:lnSpc>
              <a:buFont typeface="Wingdings" panose="05000000000000000000" pitchFamily="2" charset="2"/>
              <a:buChar char="§"/>
            </a:pPr>
            <a:r>
              <a:rPr lang="en-IN" sz="3200" dirty="0"/>
              <a:t>Use of ESP32 Micro-controller:</a:t>
            </a:r>
            <a:br>
              <a:rPr lang="en-IN" dirty="0"/>
            </a:br>
            <a:r>
              <a:rPr lang="en-US" sz="2400" dirty="0"/>
              <a:t>ESP32 microcontrollers provide Wi-Fi, Bluetooth, and GPIO capabilities, making them ideal for smart home automation projects.</a:t>
            </a:r>
            <a:endParaRPr lang="en-IN" sz="2400" dirty="0"/>
          </a:p>
        </p:txBody>
      </p:sp>
    </p:spTree>
    <p:extLst>
      <p:ext uri="{BB962C8B-B14F-4D97-AF65-F5344CB8AC3E}">
        <p14:creationId xmlns:p14="http://schemas.microsoft.com/office/powerpoint/2010/main" val="3689086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BECE0C-5F74-9809-6401-7C83B8A19D0F}"/>
              </a:ext>
            </a:extLst>
          </p:cNvPr>
          <p:cNvSpPr txBox="1"/>
          <p:nvPr/>
        </p:nvSpPr>
        <p:spPr>
          <a:xfrm>
            <a:off x="77804" y="-235819"/>
            <a:ext cx="12036391" cy="6046271"/>
          </a:xfrm>
          <a:prstGeom prst="rect">
            <a:avLst/>
          </a:prstGeom>
          <a:noFill/>
        </p:spPr>
        <p:txBody>
          <a:bodyPr wrap="square" rtlCol="0">
            <a:spAutoFit/>
          </a:bodyPr>
          <a:lstStyle/>
          <a:p>
            <a:pPr>
              <a:lnSpc>
                <a:spcPct val="150000"/>
              </a:lnSpc>
            </a:pPr>
            <a:r>
              <a:rPr lang="en-IN" sz="4200" b="1" dirty="0"/>
              <a:t>Proposed Designs</a:t>
            </a:r>
          </a:p>
          <a:p>
            <a:pPr marL="457200" indent="-457200">
              <a:lnSpc>
                <a:spcPct val="150000"/>
              </a:lnSpc>
              <a:buFont typeface="Wingdings" panose="05000000000000000000" pitchFamily="2" charset="2"/>
              <a:buChar char="§"/>
            </a:pPr>
            <a:r>
              <a:rPr lang="en-IN" sz="2400" dirty="0"/>
              <a:t>Single Layer (LED Chaser Circuit):</a:t>
            </a:r>
            <a:br>
              <a:rPr lang="en-IN" dirty="0"/>
            </a:br>
            <a:r>
              <a:rPr lang="en-US" sz="2000" dirty="0"/>
              <a:t>This design uses a 555 Timer to generate pulses that drive a counter, lighting LEDs in sequence. It demonstrates simple PCB concepts.</a:t>
            </a:r>
          </a:p>
          <a:p>
            <a:pPr marL="457200" indent="-457200">
              <a:lnSpc>
                <a:spcPct val="150000"/>
              </a:lnSpc>
              <a:buFont typeface="Wingdings" panose="05000000000000000000" pitchFamily="2" charset="2"/>
              <a:buChar char="§"/>
            </a:pPr>
            <a:endParaRPr lang="en-US" sz="2000" dirty="0"/>
          </a:p>
          <a:p>
            <a:pPr marL="457200" indent="-457200">
              <a:lnSpc>
                <a:spcPct val="150000"/>
              </a:lnSpc>
              <a:buFont typeface="Wingdings" panose="05000000000000000000" pitchFamily="2" charset="2"/>
              <a:buChar char="§"/>
            </a:pPr>
            <a:endParaRPr lang="en-US" dirty="0"/>
          </a:p>
          <a:p>
            <a:pPr marL="457200" indent="-457200">
              <a:lnSpc>
                <a:spcPct val="150000"/>
              </a:lnSpc>
              <a:buFont typeface="Wingdings" panose="05000000000000000000" pitchFamily="2" charset="2"/>
              <a:buChar char="§"/>
            </a:pPr>
            <a:endParaRPr lang="en-US" dirty="0"/>
          </a:p>
          <a:p>
            <a:pPr marL="457200" indent="-457200">
              <a:lnSpc>
                <a:spcPct val="150000"/>
              </a:lnSpc>
              <a:buFont typeface="Wingdings" panose="05000000000000000000" pitchFamily="2" charset="2"/>
              <a:buChar char="§"/>
            </a:pPr>
            <a:endParaRPr lang="en-US" dirty="0"/>
          </a:p>
          <a:p>
            <a:pPr marL="457200" indent="-457200">
              <a:lnSpc>
                <a:spcPct val="150000"/>
              </a:lnSpc>
              <a:buFont typeface="Wingdings" panose="05000000000000000000" pitchFamily="2" charset="2"/>
              <a:buChar char="§"/>
            </a:pPr>
            <a:r>
              <a:rPr lang="en-US" sz="2000" dirty="0"/>
              <a:t>Multi-layer (Smart Home Automation):</a:t>
            </a:r>
          </a:p>
          <a:p>
            <a:pPr>
              <a:lnSpc>
                <a:spcPct val="150000"/>
              </a:lnSpc>
            </a:pPr>
            <a:r>
              <a:rPr lang="en-US" sz="2000" dirty="0"/>
              <a:t>       Uses an ESP32 controller and relays to automate appliances. </a:t>
            </a:r>
          </a:p>
          <a:p>
            <a:pPr>
              <a:lnSpc>
                <a:spcPct val="150000"/>
              </a:lnSpc>
            </a:pPr>
            <a:r>
              <a:rPr lang="en-US" sz="2000" dirty="0"/>
              <a:t>       The multi-layer PCB ensures compactness, low noise, and reliable power </a:t>
            </a:r>
          </a:p>
          <a:p>
            <a:pPr>
              <a:lnSpc>
                <a:spcPct val="150000"/>
              </a:lnSpc>
            </a:pPr>
            <a:r>
              <a:rPr lang="en-US" sz="2000" dirty="0"/>
              <a:t>       distribution.</a:t>
            </a:r>
            <a:endParaRPr lang="en-IN" sz="2000" dirty="0"/>
          </a:p>
        </p:txBody>
      </p:sp>
      <p:pic>
        <p:nvPicPr>
          <p:cNvPr id="4" name="Picture 3">
            <a:extLst>
              <a:ext uri="{FF2B5EF4-FFF2-40B4-BE49-F238E27FC236}">
                <a16:creationId xmlns:a16="http://schemas.microsoft.com/office/drawing/2014/main" id="{419BE25F-11EF-19C3-C797-93B1B9940D1E}"/>
              </a:ext>
            </a:extLst>
          </p:cNvPr>
          <p:cNvPicPr>
            <a:picLocks noChangeAspect="1"/>
          </p:cNvPicPr>
          <p:nvPr/>
        </p:nvPicPr>
        <p:blipFill>
          <a:blip r:embed="rId2"/>
          <a:stretch>
            <a:fillRect/>
          </a:stretch>
        </p:blipFill>
        <p:spPr>
          <a:xfrm>
            <a:off x="4559992" y="1869707"/>
            <a:ext cx="3748316" cy="2111151"/>
          </a:xfrm>
          <a:prstGeom prst="rect">
            <a:avLst/>
          </a:prstGeom>
        </p:spPr>
      </p:pic>
      <p:pic>
        <p:nvPicPr>
          <p:cNvPr id="6" name="Picture 5">
            <a:extLst>
              <a:ext uri="{FF2B5EF4-FFF2-40B4-BE49-F238E27FC236}">
                <a16:creationId xmlns:a16="http://schemas.microsoft.com/office/drawing/2014/main" id="{0921596E-9660-88E1-13F7-C98593DB5650}"/>
              </a:ext>
            </a:extLst>
          </p:cNvPr>
          <p:cNvPicPr>
            <a:picLocks noChangeAspect="1"/>
          </p:cNvPicPr>
          <p:nvPr/>
        </p:nvPicPr>
        <p:blipFill>
          <a:blip r:embed="rId3"/>
          <a:stretch>
            <a:fillRect/>
          </a:stretch>
        </p:blipFill>
        <p:spPr>
          <a:xfrm>
            <a:off x="8513546" y="4124187"/>
            <a:ext cx="3233415" cy="2333695"/>
          </a:xfrm>
          <a:prstGeom prst="rect">
            <a:avLst/>
          </a:prstGeom>
        </p:spPr>
      </p:pic>
    </p:spTree>
    <p:extLst>
      <p:ext uri="{BB962C8B-B14F-4D97-AF65-F5344CB8AC3E}">
        <p14:creationId xmlns:p14="http://schemas.microsoft.com/office/powerpoint/2010/main" val="4217799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7E1FF9-7F3F-71F6-CE5B-7DADC9530B6A}"/>
              </a:ext>
            </a:extLst>
          </p:cNvPr>
          <p:cNvSpPr txBox="1"/>
          <p:nvPr/>
        </p:nvSpPr>
        <p:spPr>
          <a:xfrm>
            <a:off x="120316" y="178067"/>
            <a:ext cx="11959389" cy="6463308"/>
          </a:xfrm>
          <a:prstGeom prst="rect">
            <a:avLst/>
          </a:prstGeom>
          <a:noFill/>
        </p:spPr>
        <p:txBody>
          <a:bodyPr wrap="square" rtlCol="0">
            <a:spAutoFit/>
          </a:bodyPr>
          <a:lstStyle/>
          <a:p>
            <a:r>
              <a:rPr lang="en-IN" sz="4200" b="1" dirty="0"/>
              <a:t>Implementation - Single Layer</a:t>
            </a:r>
          </a:p>
          <a:p>
            <a:endParaRPr lang="en-IN" sz="4200" b="1" dirty="0"/>
          </a:p>
          <a:p>
            <a:endParaRPr lang="en-IN" sz="4200" b="1" dirty="0"/>
          </a:p>
          <a:p>
            <a:endParaRPr lang="en-IN" sz="4200" b="1" dirty="0"/>
          </a:p>
          <a:p>
            <a:endParaRPr lang="en-IN" sz="4200" b="1" dirty="0"/>
          </a:p>
          <a:p>
            <a:endParaRPr lang="en-IN" sz="4200" b="1" dirty="0"/>
          </a:p>
          <a:p>
            <a:endParaRPr lang="en-IN" sz="4200" b="1" dirty="0"/>
          </a:p>
          <a:p>
            <a:endParaRPr lang="en-US" sz="2400" dirty="0"/>
          </a:p>
          <a:p>
            <a:r>
              <a:rPr lang="en-US" sz="2400" dirty="0"/>
              <a:t>The single-layer circuit uses a 555 Timer IC in astable mode to generate clock pulses. These pulses are fed into a decade counter, which sequentially lights up the LEDs. Each LED is connected through a current-limiting resistor to ensure safe current levels. This simple design helps us understand basic PCB concepts like component placement and signal routing.</a:t>
            </a:r>
            <a:endParaRPr lang="en-IN" sz="2400" dirty="0"/>
          </a:p>
        </p:txBody>
      </p:sp>
      <p:pic>
        <p:nvPicPr>
          <p:cNvPr id="4" name="Picture 3">
            <a:extLst>
              <a:ext uri="{FF2B5EF4-FFF2-40B4-BE49-F238E27FC236}">
                <a16:creationId xmlns:a16="http://schemas.microsoft.com/office/drawing/2014/main" id="{5DC33826-E1C3-3C47-40B8-B8CACDA9CBAC}"/>
              </a:ext>
            </a:extLst>
          </p:cNvPr>
          <p:cNvPicPr>
            <a:picLocks noChangeAspect="1"/>
          </p:cNvPicPr>
          <p:nvPr/>
        </p:nvPicPr>
        <p:blipFill>
          <a:blip r:embed="rId2"/>
          <a:stretch>
            <a:fillRect/>
          </a:stretch>
        </p:blipFill>
        <p:spPr>
          <a:xfrm>
            <a:off x="1259167" y="986120"/>
            <a:ext cx="3371104" cy="3765176"/>
          </a:xfrm>
          <a:prstGeom prst="rect">
            <a:avLst/>
          </a:prstGeom>
        </p:spPr>
      </p:pic>
      <p:pic>
        <p:nvPicPr>
          <p:cNvPr id="8" name="Picture 7">
            <a:extLst>
              <a:ext uri="{FF2B5EF4-FFF2-40B4-BE49-F238E27FC236}">
                <a16:creationId xmlns:a16="http://schemas.microsoft.com/office/drawing/2014/main" id="{83171B5D-2E46-7D6E-A2F1-916315FB03B6}"/>
              </a:ext>
            </a:extLst>
          </p:cNvPr>
          <p:cNvPicPr>
            <a:picLocks noChangeAspect="1"/>
          </p:cNvPicPr>
          <p:nvPr/>
        </p:nvPicPr>
        <p:blipFill>
          <a:blip r:embed="rId3"/>
          <a:stretch>
            <a:fillRect/>
          </a:stretch>
        </p:blipFill>
        <p:spPr>
          <a:xfrm>
            <a:off x="6143646" y="1047750"/>
            <a:ext cx="3300029" cy="3576546"/>
          </a:xfrm>
          <a:prstGeom prst="rect">
            <a:avLst/>
          </a:prstGeom>
        </p:spPr>
      </p:pic>
    </p:spTree>
    <p:extLst>
      <p:ext uri="{BB962C8B-B14F-4D97-AF65-F5344CB8AC3E}">
        <p14:creationId xmlns:p14="http://schemas.microsoft.com/office/powerpoint/2010/main" val="3055681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1FDBE5-1988-96D0-AD6A-88AAB03A2F0A}"/>
              </a:ext>
            </a:extLst>
          </p:cNvPr>
          <p:cNvSpPr txBox="1"/>
          <p:nvPr/>
        </p:nvSpPr>
        <p:spPr>
          <a:xfrm>
            <a:off x="86627" y="120316"/>
            <a:ext cx="12026767" cy="6647974"/>
          </a:xfrm>
          <a:prstGeom prst="rect">
            <a:avLst/>
          </a:prstGeom>
          <a:noFill/>
        </p:spPr>
        <p:txBody>
          <a:bodyPr wrap="square" rtlCol="0">
            <a:spAutoFit/>
          </a:bodyPr>
          <a:lstStyle/>
          <a:p>
            <a:r>
              <a:rPr lang="en-IN" sz="4200" b="1" dirty="0"/>
              <a:t>Implementation – Multi Layer</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The multi-layer circuit is based on the ESP32 microcontroller, which controls multiple appliances through relay modules. The ESP32 communicates with the relays to switch appliances on and off based on user input. The six-layer PCB ensures efficient power distribution and minimizes noise for stable operation, making it suitable for complex systems like home automation.</a:t>
            </a:r>
            <a:endParaRPr lang="en-IN" sz="2400" dirty="0"/>
          </a:p>
        </p:txBody>
      </p:sp>
      <p:pic>
        <p:nvPicPr>
          <p:cNvPr id="4" name="Picture 3">
            <a:extLst>
              <a:ext uri="{FF2B5EF4-FFF2-40B4-BE49-F238E27FC236}">
                <a16:creationId xmlns:a16="http://schemas.microsoft.com/office/drawing/2014/main" id="{C3B87943-FAD5-0893-724E-3E3A6C13DEEC}"/>
              </a:ext>
            </a:extLst>
          </p:cNvPr>
          <p:cNvPicPr>
            <a:picLocks noChangeAspect="1"/>
          </p:cNvPicPr>
          <p:nvPr/>
        </p:nvPicPr>
        <p:blipFill>
          <a:blip r:embed="rId2">
            <a:extLst>
              <a:ext uri="{28A0092B-C50C-407E-A947-70E740481C1C}">
                <a14:useLocalDpi xmlns:a14="http://schemas.microsoft.com/office/drawing/2010/main" val="0"/>
              </a:ext>
            </a:extLst>
          </a:blip>
          <a:srcRect l="9011" t="7063" r="6140" b="2164"/>
          <a:stretch/>
        </p:blipFill>
        <p:spPr>
          <a:xfrm>
            <a:off x="86627" y="1139288"/>
            <a:ext cx="3980330" cy="2631701"/>
          </a:xfrm>
          <a:prstGeom prst="rect">
            <a:avLst/>
          </a:prstGeom>
        </p:spPr>
      </p:pic>
      <p:pic>
        <p:nvPicPr>
          <p:cNvPr id="6" name="Picture 5">
            <a:extLst>
              <a:ext uri="{FF2B5EF4-FFF2-40B4-BE49-F238E27FC236}">
                <a16:creationId xmlns:a16="http://schemas.microsoft.com/office/drawing/2014/main" id="{9839D990-1744-FD82-4324-79F0347926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0769" y="2756081"/>
            <a:ext cx="3630461" cy="2188789"/>
          </a:xfrm>
          <a:prstGeom prst="rect">
            <a:avLst/>
          </a:prstGeom>
        </p:spPr>
      </p:pic>
      <p:pic>
        <p:nvPicPr>
          <p:cNvPr id="8" name="Picture 7">
            <a:extLst>
              <a:ext uri="{FF2B5EF4-FFF2-40B4-BE49-F238E27FC236}">
                <a16:creationId xmlns:a16="http://schemas.microsoft.com/office/drawing/2014/main" id="{5E12380D-1880-02C0-F0B2-1FCAECAB25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11230" y="120316"/>
            <a:ext cx="3738282" cy="2422999"/>
          </a:xfrm>
          <a:prstGeom prst="rect">
            <a:avLst/>
          </a:prstGeom>
        </p:spPr>
      </p:pic>
      <p:pic>
        <p:nvPicPr>
          <p:cNvPr id="10" name="Picture 9">
            <a:extLst>
              <a:ext uri="{FF2B5EF4-FFF2-40B4-BE49-F238E27FC236}">
                <a16:creationId xmlns:a16="http://schemas.microsoft.com/office/drawing/2014/main" id="{DE2B80B9-B144-87A5-62F3-EAECC55919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07650" y="2675399"/>
            <a:ext cx="3629080" cy="2350154"/>
          </a:xfrm>
          <a:prstGeom prst="rect">
            <a:avLst/>
          </a:prstGeom>
        </p:spPr>
      </p:pic>
    </p:spTree>
    <p:extLst>
      <p:ext uri="{BB962C8B-B14F-4D97-AF65-F5344CB8AC3E}">
        <p14:creationId xmlns:p14="http://schemas.microsoft.com/office/powerpoint/2010/main" val="773417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109853-541A-886B-885C-9F5E3E18E93C}"/>
              </a:ext>
            </a:extLst>
          </p:cNvPr>
          <p:cNvSpPr txBox="1"/>
          <p:nvPr/>
        </p:nvSpPr>
        <p:spPr>
          <a:xfrm>
            <a:off x="101065" y="173255"/>
            <a:ext cx="12007516" cy="6401753"/>
          </a:xfrm>
          <a:prstGeom prst="rect">
            <a:avLst/>
          </a:prstGeom>
          <a:noFill/>
        </p:spPr>
        <p:txBody>
          <a:bodyPr wrap="square" rtlCol="0">
            <a:spAutoFit/>
          </a:bodyPr>
          <a:lstStyle/>
          <a:p>
            <a:r>
              <a:rPr lang="en-IN" sz="4200" b="1" dirty="0"/>
              <a:t>Results – Single Layer</a:t>
            </a:r>
          </a:p>
          <a:p>
            <a:endParaRPr lang="en-US" sz="3200" dirty="0"/>
          </a:p>
          <a:p>
            <a:endParaRPr lang="en-US" sz="3200" dirty="0"/>
          </a:p>
          <a:p>
            <a:endParaRPr lang="en-US" sz="3200" dirty="0"/>
          </a:p>
          <a:p>
            <a:endParaRPr lang="en-US" sz="3200" dirty="0"/>
          </a:p>
          <a:p>
            <a:endParaRPr lang="en-US" sz="3200" dirty="0"/>
          </a:p>
          <a:p>
            <a:endParaRPr lang="en-US" sz="3200" dirty="0"/>
          </a:p>
          <a:p>
            <a:endParaRPr lang="en-US" sz="3200" dirty="0"/>
          </a:p>
          <a:p>
            <a:endParaRPr lang="en-US" sz="3200" dirty="0"/>
          </a:p>
          <a:p>
            <a:endParaRPr lang="en-US" sz="3200" dirty="0"/>
          </a:p>
          <a:p>
            <a:r>
              <a:rPr lang="en-US" sz="3200" dirty="0"/>
              <a:t>LED Chaser Circuit:</a:t>
            </a:r>
          </a:p>
          <a:p>
            <a:r>
              <a:rPr lang="en-US" sz="2400" dirty="0"/>
              <a:t>The fabricated PCB worked as expected, sequentially lighting LEDs. 3D visualization confirmed correct placements, and Gerber outputs were ready for production.</a:t>
            </a:r>
            <a:endParaRPr lang="en-IN" sz="2400" dirty="0"/>
          </a:p>
        </p:txBody>
      </p:sp>
      <p:pic>
        <p:nvPicPr>
          <p:cNvPr id="4" name="Picture 3">
            <a:extLst>
              <a:ext uri="{FF2B5EF4-FFF2-40B4-BE49-F238E27FC236}">
                <a16:creationId xmlns:a16="http://schemas.microsoft.com/office/drawing/2014/main" id="{1D5CE50A-36FF-783E-B0CD-238A8732E2A7}"/>
              </a:ext>
            </a:extLst>
          </p:cNvPr>
          <p:cNvPicPr>
            <a:picLocks noChangeAspect="1"/>
          </p:cNvPicPr>
          <p:nvPr/>
        </p:nvPicPr>
        <p:blipFill>
          <a:blip r:embed="rId2"/>
          <a:stretch>
            <a:fillRect/>
          </a:stretch>
        </p:blipFill>
        <p:spPr>
          <a:xfrm>
            <a:off x="1178858" y="975993"/>
            <a:ext cx="7073152" cy="3869416"/>
          </a:xfrm>
          <a:prstGeom prst="rect">
            <a:avLst/>
          </a:prstGeom>
        </p:spPr>
      </p:pic>
    </p:spTree>
    <p:extLst>
      <p:ext uri="{BB962C8B-B14F-4D97-AF65-F5344CB8AC3E}">
        <p14:creationId xmlns:p14="http://schemas.microsoft.com/office/powerpoint/2010/main" val="3427691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EB455E-52D0-D0AC-0106-A1BD5F709F59}"/>
              </a:ext>
            </a:extLst>
          </p:cNvPr>
          <p:cNvSpPr txBox="1"/>
          <p:nvPr/>
        </p:nvSpPr>
        <p:spPr>
          <a:xfrm>
            <a:off x="43314" y="120316"/>
            <a:ext cx="12103768" cy="6401753"/>
          </a:xfrm>
          <a:prstGeom prst="rect">
            <a:avLst/>
          </a:prstGeom>
          <a:noFill/>
        </p:spPr>
        <p:txBody>
          <a:bodyPr wrap="square" rtlCol="0">
            <a:spAutoFit/>
          </a:bodyPr>
          <a:lstStyle/>
          <a:p>
            <a:r>
              <a:rPr lang="en-IN" sz="4200" b="1" dirty="0"/>
              <a:t>Results – Multi Layer</a:t>
            </a:r>
          </a:p>
          <a:p>
            <a:endParaRPr lang="en-IN" sz="3200" dirty="0"/>
          </a:p>
          <a:p>
            <a:endParaRPr lang="en-IN" sz="3200" dirty="0"/>
          </a:p>
          <a:p>
            <a:endParaRPr lang="en-IN" sz="3200" dirty="0"/>
          </a:p>
          <a:p>
            <a:endParaRPr lang="en-IN" sz="3200" dirty="0"/>
          </a:p>
          <a:p>
            <a:endParaRPr lang="en-IN" sz="3200" dirty="0"/>
          </a:p>
          <a:p>
            <a:endParaRPr lang="en-IN" sz="3200" dirty="0"/>
          </a:p>
          <a:p>
            <a:endParaRPr lang="en-IN" sz="3200" dirty="0"/>
          </a:p>
          <a:p>
            <a:endParaRPr lang="en-IN" sz="3200" dirty="0"/>
          </a:p>
          <a:p>
            <a:endParaRPr lang="en-IN" sz="3200" dirty="0"/>
          </a:p>
          <a:p>
            <a:r>
              <a:rPr lang="en-IN" sz="3200" dirty="0"/>
              <a:t>Smart Home Automation:</a:t>
            </a:r>
          </a:p>
          <a:p>
            <a:r>
              <a:rPr lang="en-US" sz="2400" dirty="0"/>
              <a:t>The multilayer PCB was successfully verified. All ERC and DRC checks passed, and the 3D models showed proper layer connections. Fabrication-ready files were generated.</a:t>
            </a:r>
            <a:endParaRPr lang="en-IN" sz="2400" dirty="0"/>
          </a:p>
        </p:txBody>
      </p:sp>
      <p:pic>
        <p:nvPicPr>
          <p:cNvPr id="4" name="Picture 3">
            <a:extLst>
              <a:ext uri="{FF2B5EF4-FFF2-40B4-BE49-F238E27FC236}">
                <a16:creationId xmlns:a16="http://schemas.microsoft.com/office/drawing/2014/main" id="{1710625F-5705-7824-DEC9-E74AFF311D2C}"/>
              </a:ext>
            </a:extLst>
          </p:cNvPr>
          <p:cNvPicPr>
            <a:picLocks noChangeAspect="1"/>
          </p:cNvPicPr>
          <p:nvPr/>
        </p:nvPicPr>
        <p:blipFill>
          <a:blip r:embed="rId2">
            <a:extLst>
              <a:ext uri="{28A0092B-C50C-407E-A947-70E740481C1C}">
                <a14:useLocalDpi xmlns:a14="http://schemas.microsoft.com/office/drawing/2010/main" val="0"/>
              </a:ext>
            </a:extLst>
          </a:blip>
          <a:srcRect l="13692" t="1920" r="16575"/>
          <a:stretch/>
        </p:blipFill>
        <p:spPr>
          <a:xfrm>
            <a:off x="430306" y="1021976"/>
            <a:ext cx="4002742" cy="3989294"/>
          </a:xfrm>
          <a:prstGeom prst="rect">
            <a:avLst/>
          </a:prstGeom>
        </p:spPr>
      </p:pic>
      <p:pic>
        <p:nvPicPr>
          <p:cNvPr id="6" name="Picture 5">
            <a:extLst>
              <a:ext uri="{FF2B5EF4-FFF2-40B4-BE49-F238E27FC236}">
                <a16:creationId xmlns:a16="http://schemas.microsoft.com/office/drawing/2014/main" id="{2110E69E-2008-9FC8-2B7A-4F7EE3767E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3182" y="2719135"/>
            <a:ext cx="5412441" cy="2906766"/>
          </a:xfrm>
          <a:prstGeom prst="rect">
            <a:avLst/>
          </a:prstGeom>
        </p:spPr>
      </p:pic>
      <p:pic>
        <p:nvPicPr>
          <p:cNvPr id="8" name="Picture 7">
            <a:extLst>
              <a:ext uri="{FF2B5EF4-FFF2-40B4-BE49-F238E27FC236}">
                <a16:creationId xmlns:a16="http://schemas.microsoft.com/office/drawing/2014/main" id="{5F16BD13-212C-6882-BF51-3B74CA781B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1424" y="55282"/>
            <a:ext cx="4237564" cy="2598819"/>
          </a:xfrm>
          <a:prstGeom prst="rect">
            <a:avLst/>
          </a:prstGeom>
        </p:spPr>
      </p:pic>
    </p:spTree>
    <p:extLst>
      <p:ext uri="{BB962C8B-B14F-4D97-AF65-F5344CB8AC3E}">
        <p14:creationId xmlns:p14="http://schemas.microsoft.com/office/powerpoint/2010/main" val="989055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8ABCAD-CC72-697F-6E51-F6A3F52112FA}"/>
              </a:ext>
            </a:extLst>
          </p:cNvPr>
          <p:cNvSpPr txBox="1"/>
          <p:nvPr/>
        </p:nvSpPr>
        <p:spPr>
          <a:xfrm>
            <a:off x="62564" y="86627"/>
            <a:ext cx="12046017" cy="6647974"/>
          </a:xfrm>
          <a:prstGeom prst="rect">
            <a:avLst/>
          </a:prstGeom>
          <a:noFill/>
        </p:spPr>
        <p:txBody>
          <a:bodyPr wrap="square" rtlCol="0">
            <a:spAutoFit/>
          </a:bodyPr>
          <a:lstStyle/>
          <a:p>
            <a:r>
              <a:rPr lang="en-IN" sz="4200" b="1" dirty="0"/>
              <a:t>Testing and Verification</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ERC and DRC checks confirmed no design errors. SPICE simulations validated circuit behavior. BOM was reviewed, and 3D clearance tests ensured no physical conflicts.</a:t>
            </a:r>
            <a:endParaRPr lang="en-IN" sz="2400" dirty="0"/>
          </a:p>
        </p:txBody>
      </p:sp>
      <p:pic>
        <p:nvPicPr>
          <p:cNvPr id="4" name="Picture 3">
            <a:extLst>
              <a:ext uri="{FF2B5EF4-FFF2-40B4-BE49-F238E27FC236}">
                <a16:creationId xmlns:a16="http://schemas.microsoft.com/office/drawing/2014/main" id="{9AE223F8-164C-CD13-82ED-3808D5CF303E}"/>
              </a:ext>
            </a:extLst>
          </p:cNvPr>
          <p:cNvPicPr>
            <a:picLocks noChangeAspect="1"/>
          </p:cNvPicPr>
          <p:nvPr/>
        </p:nvPicPr>
        <p:blipFill>
          <a:blip r:embed="rId2"/>
          <a:stretch>
            <a:fillRect/>
          </a:stretch>
        </p:blipFill>
        <p:spPr>
          <a:xfrm>
            <a:off x="146170" y="1313327"/>
            <a:ext cx="5752605" cy="1384328"/>
          </a:xfrm>
          <a:prstGeom prst="rect">
            <a:avLst/>
          </a:prstGeom>
        </p:spPr>
      </p:pic>
      <p:pic>
        <p:nvPicPr>
          <p:cNvPr id="6" name="Picture 5">
            <a:extLst>
              <a:ext uri="{FF2B5EF4-FFF2-40B4-BE49-F238E27FC236}">
                <a16:creationId xmlns:a16="http://schemas.microsoft.com/office/drawing/2014/main" id="{68A85D74-DFFE-8066-A6E1-6B77E36A7B02}"/>
              </a:ext>
            </a:extLst>
          </p:cNvPr>
          <p:cNvPicPr>
            <a:picLocks noChangeAspect="1"/>
          </p:cNvPicPr>
          <p:nvPr/>
        </p:nvPicPr>
        <p:blipFill>
          <a:blip r:embed="rId3"/>
          <a:stretch>
            <a:fillRect/>
          </a:stretch>
        </p:blipFill>
        <p:spPr>
          <a:xfrm>
            <a:off x="146170" y="3073569"/>
            <a:ext cx="5620871" cy="2255911"/>
          </a:xfrm>
          <a:prstGeom prst="rect">
            <a:avLst/>
          </a:prstGeom>
        </p:spPr>
      </p:pic>
      <p:pic>
        <p:nvPicPr>
          <p:cNvPr id="8" name="Picture 7">
            <a:extLst>
              <a:ext uri="{FF2B5EF4-FFF2-40B4-BE49-F238E27FC236}">
                <a16:creationId xmlns:a16="http://schemas.microsoft.com/office/drawing/2014/main" id="{E98DCAEC-3A75-83AD-651A-6D86EA318A0A}"/>
              </a:ext>
            </a:extLst>
          </p:cNvPr>
          <p:cNvPicPr>
            <a:picLocks noChangeAspect="1"/>
          </p:cNvPicPr>
          <p:nvPr/>
        </p:nvPicPr>
        <p:blipFill>
          <a:blip r:embed="rId4"/>
          <a:stretch>
            <a:fillRect/>
          </a:stretch>
        </p:blipFill>
        <p:spPr>
          <a:xfrm>
            <a:off x="6907541" y="31377"/>
            <a:ext cx="5138289" cy="3005610"/>
          </a:xfrm>
          <a:prstGeom prst="rect">
            <a:avLst/>
          </a:prstGeom>
        </p:spPr>
      </p:pic>
      <p:pic>
        <p:nvPicPr>
          <p:cNvPr id="5" name="Picture 4">
            <a:extLst>
              <a:ext uri="{FF2B5EF4-FFF2-40B4-BE49-F238E27FC236}">
                <a16:creationId xmlns:a16="http://schemas.microsoft.com/office/drawing/2014/main" id="{5161992C-717C-6582-ECDF-83AEC1F0C6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4961" y="3143646"/>
            <a:ext cx="4352063" cy="2652038"/>
          </a:xfrm>
          <a:prstGeom prst="rect">
            <a:avLst/>
          </a:prstGeom>
        </p:spPr>
      </p:pic>
    </p:spTree>
    <p:extLst>
      <p:ext uri="{BB962C8B-B14F-4D97-AF65-F5344CB8AC3E}">
        <p14:creationId xmlns:p14="http://schemas.microsoft.com/office/powerpoint/2010/main" val="863042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64F4BC-1EF6-7622-444D-449978322B93}"/>
              </a:ext>
            </a:extLst>
          </p:cNvPr>
          <p:cNvSpPr txBox="1"/>
          <p:nvPr/>
        </p:nvSpPr>
        <p:spPr>
          <a:xfrm>
            <a:off x="72991" y="-235819"/>
            <a:ext cx="12046017" cy="6960047"/>
          </a:xfrm>
          <a:prstGeom prst="rect">
            <a:avLst/>
          </a:prstGeom>
          <a:noFill/>
        </p:spPr>
        <p:txBody>
          <a:bodyPr wrap="square" rtlCol="0">
            <a:spAutoFit/>
          </a:bodyPr>
          <a:lstStyle/>
          <a:p>
            <a:pPr>
              <a:lnSpc>
                <a:spcPct val="150000"/>
              </a:lnSpc>
            </a:pPr>
            <a:r>
              <a:rPr lang="en-IN" sz="4400" b="1" dirty="0"/>
              <a:t>Conclusion</a:t>
            </a:r>
          </a:p>
          <a:p>
            <a:pPr marL="457200" indent="-457200">
              <a:lnSpc>
                <a:spcPct val="150000"/>
              </a:lnSpc>
              <a:buFont typeface="Wingdings" panose="05000000000000000000" pitchFamily="2" charset="2"/>
              <a:buChar char="§"/>
            </a:pPr>
            <a:r>
              <a:rPr lang="en-US" sz="3200" dirty="0"/>
              <a:t>Single Layer:</a:t>
            </a:r>
          </a:p>
          <a:p>
            <a:pPr>
              <a:lnSpc>
                <a:spcPct val="150000"/>
              </a:lnSpc>
            </a:pPr>
            <a:r>
              <a:rPr lang="en-US" sz="2400" dirty="0"/>
              <a:t>       We started by designing a single-layer PCB for an LED chaser circuit using Altium Designer. It</a:t>
            </a:r>
          </a:p>
          <a:p>
            <a:pPr>
              <a:lnSpc>
                <a:spcPct val="150000"/>
              </a:lnSpc>
            </a:pPr>
            <a:r>
              <a:rPr lang="en-US" sz="2400" dirty="0"/>
              <a:t>       helped us learn the basics like schematic creation, component placement, routing, and  </a:t>
            </a:r>
          </a:p>
          <a:p>
            <a:pPr>
              <a:lnSpc>
                <a:spcPct val="150000"/>
              </a:lnSpc>
            </a:pPr>
            <a:r>
              <a:rPr lang="en-US" sz="2400" dirty="0"/>
              <a:t>       Gerber file generation. After fabrication, the circuit worked exactly as expected, with LEDs</a:t>
            </a:r>
          </a:p>
          <a:p>
            <a:pPr>
              <a:lnSpc>
                <a:spcPct val="150000"/>
              </a:lnSpc>
            </a:pPr>
            <a:r>
              <a:rPr lang="en-US" sz="2400" dirty="0"/>
              <a:t>       blinking sequentially. This gave us confidence in handling simple PCB designs.</a:t>
            </a:r>
          </a:p>
          <a:p>
            <a:pPr marL="457200" indent="-457200">
              <a:lnSpc>
                <a:spcPct val="150000"/>
              </a:lnSpc>
              <a:buFont typeface="Wingdings" panose="05000000000000000000" pitchFamily="2" charset="2"/>
              <a:buChar char="§"/>
            </a:pPr>
            <a:r>
              <a:rPr lang="en-US" sz="3200" dirty="0"/>
              <a:t>Multi Layer:</a:t>
            </a:r>
          </a:p>
          <a:p>
            <a:pPr>
              <a:lnSpc>
                <a:spcPct val="150000"/>
              </a:lnSpc>
            </a:pPr>
            <a:r>
              <a:rPr lang="en-US" sz="2400" dirty="0"/>
              <a:t>       We designed a multi-layer PCB for a smart home automation system using ESP32. We </a:t>
            </a:r>
          </a:p>
          <a:p>
            <a:pPr>
              <a:lnSpc>
                <a:spcPct val="150000"/>
              </a:lnSpc>
            </a:pPr>
            <a:r>
              <a:rPr lang="en-US" sz="2400" dirty="0"/>
              <a:t>       created a six-layer stack, manually routed critical signals, and focused on efficient power </a:t>
            </a:r>
          </a:p>
          <a:p>
            <a:pPr>
              <a:lnSpc>
                <a:spcPct val="150000"/>
              </a:lnSpc>
            </a:pPr>
            <a:r>
              <a:rPr lang="en-US" sz="2400" dirty="0"/>
              <a:t>       distribution and noise reduction. The final PCB successfully controlled multiple appliances, </a:t>
            </a:r>
          </a:p>
          <a:p>
            <a:pPr>
              <a:lnSpc>
                <a:spcPct val="150000"/>
              </a:lnSpc>
            </a:pPr>
            <a:r>
              <a:rPr lang="en-US" sz="2400" dirty="0"/>
              <a:t>       showing how multilayer PCBs are important for real-world applications.</a:t>
            </a:r>
            <a:endParaRPr lang="en-IN" sz="2400" dirty="0"/>
          </a:p>
        </p:txBody>
      </p:sp>
    </p:spTree>
    <p:extLst>
      <p:ext uri="{BB962C8B-B14F-4D97-AF65-F5344CB8AC3E}">
        <p14:creationId xmlns:p14="http://schemas.microsoft.com/office/powerpoint/2010/main" val="4152822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8B8C2-3E2E-E207-A8BC-45F9466D3EF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688B98-2779-FF01-ABE9-6458062E876F}"/>
              </a:ext>
            </a:extLst>
          </p:cNvPr>
          <p:cNvSpPr txBox="1"/>
          <p:nvPr/>
        </p:nvSpPr>
        <p:spPr>
          <a:xfrm>
            <a:off x="145983" y="351322"/>
            <a:ext cx="12046017" cy="5113387"/>
          </a:xfrm>
          <a:prstGeom prst="rect">
            <a:avLst/>
          </a:prstGeom>
          <a:noFill/>
        </p:spPr>
        <p:txBody>
          <a:bodyPr wrap="square" rtlCol="0">
            <a:spAutoFit/>
          </a:bodyPr>
          <a:lstStyle/>
          <a:p>
            <a:pPr>
              <a:lnSpc>
                <a:spcPct val="150000"/>
              </a:lnSpc>
            </a:pPr>
            <a:r>
              <a:rPr lang="en-IN" sz="4400" b="1" dirty="0"/>
              <a:t>Future Scope</a:t>
            </a:r>
          </a:p>
          <a:p>
            <a:pPr marL="457200" indent="-457200">
              <a:lnSpc>
                <a:spcPct val="150000"/>
              </a:lnSpc>
              <a:buFont typeface="Wingdings" panose="05000000000000000000" pitchFamily="2" charset="2"/>
              <a:buChar char="§"/>
            </a:pPr>
            <a:r>
              <a:rPr lang="en-US" sz="3200" dirty="0"/>
              <a:t>Possible Enhancements:</a:t>
            </a:r>
          </a:p>
          <a:p>
            <a:pPr>
              <a:lnSpc>
                <a:spcPct val="150000"/>
              </a:lnSpc>
            </a:pPr>
            <a:r>
              <a:rPr lang="en-US" sz="2400" dirty="0"/>
              <a:t>       Future improvements could add Bluetooth or MQTT control, integrate sensors like  </a:t>
            </a:r>
          </a:p>
          <a:p>
            <a:pPr>
              <a:lnSpc>
                <a:spcPct val="150000"/>
              </a:lnSpc>
            </a:pPr>
            <a:r>
              <a:rPr lang="en-US" sz="2400" dirty="0"/>
              <a:t>       temperature and humidity, and create mobile apps for easier remote management.</a:t>
            </a:r>
          </a:p>
          <a:p>
            <a:pPr>
              <a:lnSpc>
                <a:spcPct val="150000"/>
              </a:lnSpc>
            </a:pPr>
            <a:r>
              <a:rPr lang="en-US" sz="2400" dirty="0"/>
              <a:t>       Additionally, there’s potential to move to the cloud, where users could control their home</a:t>
            </a:r>
          </a:p>
          <a:p>
            <a:pPr>
              <a:lnSpc>
                <a:spcPct val="150000"/>
              </a:lnSpc>
            </a:pPr>
            <a:r>
              <a:rPr lang="en-US" sz="2400" dirty="0"/>
              <a:t>       appliances remotely, and even gather data for analytics. A local control system using</a:t>
            </a:r>
          </a:p>
          <a:p>
            <a:pPr>
              <a:lnSpc>
                <a:spcPct val="150000"/>
              </a:lnSpc>
            </a:pPr>
            <a:r>
              <a:rPr lang="en-US" sz="2400" dirty="0"/>
              <a:t>       physical switches can also be a handy backup for scenarios where the network might be</a:t>
            </a:r>
          </a:p>
          <a:p>
            <a:pPr>
              <a:lnSpc>
                <a:spcPct val="150000"/>
              </a:lnSpc>
            </a:pPr>
            <a:r>
              <a:rPr lang="en-US" sz="2400" dirty="0"/>
              <a:t>       down.</a:t>
            </a:r>
            <a:endParaRPr lang="en-IN" sz="2400" dirty="0"/>
          </a:p>
        </p:txBody>
      </p:sp>
    </p:spTree>
    <p:extLst>
      <p:ext uri="{BB962C8B-B14F-4D97-AF65-F5344CB8AC3E}">
        <p14:creationId xmlns:p14="http://schemas.microsoft.com/office/powerpoint/2010/main" val="2704295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8F04FE-0199-0240-FDFF-13478E5DE69D}"/>
              </a:ext>
            </a:extLst>
          </p:cNvPr>
          <p:cNvSpPr txBox="1"/>
          <p:nvPr/>
        </p:nvSpPr>
        <p:spPr>
          <a:xfrm>
            <a:off x="62564" y="105878"/>
            <a:ext cx="12041204" cy="6554102"/>
          </a:xfrm>
          <a:prstGeom prst="rect">
            <a:avLst/>
          </a:prstGeom>
          <a:noFill/>
        </p:spPr>
        <p:txBody>
          <a:bodyPr wrap="square" rtlCol="0">
            <a:spAutoFit/>
          </a:bodyPr>
          <a:lstStyle/>
          <a:p>
            <a:pPr>
              <a:lnSpc>
                <a:spcPct val="150000"/>
              </a:lnSpc>
            </a:pPr>
            <a:r>
              <a:rPr lang="en-IN" sz="4200" b="1" dirty="0"/>
              <a:t>References</a:t>
            </a:r>
            <a:br>
              <a:rPr lang="en-IN" dirty="0"/>
            </a:br>
            <a:r>
              <a:rPr lang="en-IN" sz="2000" dirty="0"/>
              <a:t>1.Espressif Systems, ESP32 Datasheet, [Online]. </a:t>
            </a:r>
          </a:p>
          <a:p>
            <a:pPr>
              <a:lnSpc>
                <a:spcPct val="150000"/>
              </a:lnSpc>
            </a:pPr>
            <a:r>
              <a:rPr lang="en-IN" sz="2000" dirty="0"/>
              <a:t>    Available: https://www.espressif.com/en/support/download/documents</a:t>
            </a:r>
          </a:p>
          <a:p>
            <a:pPr>
              <a:lnSpc>
                <a:spcPct val="150000"/>
              </a:lnSpc>
            </a:pPr>
            <a:r>
              <a:rPr lang="en-IN" sz="2000" dirty="0"/>
              <a:t>2. Altium LLC, Altium Designer Documentation, [Online]. </a:t>
            </a:r>
          </a:p>
          <a:p>
            <a:pPr>
              <a:lnSpc>
                <a:spcPct val="150000"/>
              </a:lnSpc>
            </a:pPr>
            <a:r>
              <a:rPr lang="en-IN" sz="2000" dirty="0"/>
              <a:t>    Available: https://www.altium.com/documentation</a:t>
            </a:r>
          </a:p>
          <a:p>
            <a:pPr>
              <a:lnSpc>
                <a:spcPct val="150000"/>
              </a:lnSpc>
            </a:pPr>
            <a:r>
              <a:rPr lang="en-IN" sz="2000" dirty="0"/>
              <a:t>3. IEEE, Papers on Smart Home Systems, IEEE Xplore Digital Library, [Online].</a:t>
            </a:r>
          </a:p>
          <a:p>
            <a:pPr>
              <a:lnSpc>
                <a:spcPct val="150000"/>
              </a:lnSpc>
            </a:pPr>
            <a:r>
              <a:rPr lang="en-IN" sz="2000" dirty="0"/>
              <a:t>    Available: https://ieeexplore.ieee.org/Xplore/home.jsp</a:t>
            </a:r>
          </a:p>
          <a:p>
            <a:pPr>
              <a:lnSpc>
                <a:spcPct val="150000"/>
              </a:lnSpc>
            </a:pPr>
            <a:r>
              <a:rPr lang="en-IN" sz="2000" dirty="0"/>
              <a:t>4. Stack Overflow, Reddit Embedded Systems Community, Technical Discussions</a:t>
            </a:r>
          </a:p>
          <a:p>
            <a:pPr>
              <a:lnSpc>
                <a:spcPct val="150000"/>
              </a:lnSpc>
            </a:pPr>
            <a:r>
              <a:rPr lang="en-IN" sz="2000" dirty="0"/>
              <a:t>    and Troubleshooting Resources, [Online].</a:t>
            </a:r>
          </a:p>
          <a:p>
            <a:pPr>
              <a:lnSpc>
                <a:spcPct val="150000"/>
              </a:lnSpc>
            </a:pPr>
            <a:r>
              <a:rPr lang="en-IN" sz="2000" dirty="0"/>
              <a:t>    Available: https://stackoverflow.com/ and </a:t>
            </a:r>
          </a:p>
          <a:p>
            <a:pPr>
              <a:lnSpc>
                <a:spcPct val="150000"/>
              </a:lnSpc>
            </a:pPr>
            <a:r>
              <a:rPr lang="en-IN" sz="2000" dirty="0"/>
              <a:t>    https://www.reddit.com/r/embedded/</a:t>
            </a:r>
          </a:p>
          <a:p>
            <a:pPr>
              <a:lnSpc>
                <a:spcPct val="150000"/>
              </a:lnSpc>
            </a:pPr>
            <a:r>
              <a:rPr lang="en-IN" sz="2000" dirty="0"/>
              <a:t>5. EEVblog Forum, Altium Designer Tips and Discussions, [Online]. </a:t>
            </a:r>
          </a:p>
          <a:p>
            <a:pPr>
              <a:lnSpc>
                <a:spcPct val="150000"/>
              </a:lnSpc>
            </a:pPr>
            <a:r>
              <a:rPr lang="en-IN" sz="2000" dirty="0"/>
              <a:t>     Available: https://www.eevblog.com/forum/altium/ </a:t>
            </a:r>
          </a:p>
        </p:txBody>
      </p:sp>
    </p:spTree>
    <p:extLst>
      <p:ext uri="{BB962C8B-B14F-4D97-AF65-F5344CB8AC3E}">
        <p14:creationId xmlns:p14="http://schemas.microsoft.com/office/powerpoint/2010/main" val="404398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0FD93B-8D8B-73A8-B4CD-52CB6A4324E5}"/>
              </a:ext>
            </a:extLst>
          </p:cNvPr>
          <p:cNvSpPr txBox="1"/>
          <p:nvPr/>
        </p:nvSpPr>
        <p:spPr>
          <a:xfrm>
            <a:off x="125128" y="2569946"/>
            <a:ext cx="11819823" cy="1107996"/>
          </a:xfrm>
          <a:prstGeom prst="rect">
            <a:avLst/>
          </a:prstGeom>
          <a:noFill/>
        </p:spPr>
        <p:txBody>
          <a:bodyPr wrap="square" rtlCol="0">
            <a:spAutoFit/>
          </a:bodyPr>
          <a:lstStyle/>
          <a:p>
            <a:pPr algn="ctr"/>
            <a:r>
              <a:rPr lang="en-IN" sz="6600" b="1" dirty="0"/>
              <a:t>THANK  YOU</a:t>
            </a:r>
          </a:p>
        </p:txBody>
      </p:sp>
    </p:spTree>
    <p:extLst>
      <p:ext uri="{BB962C8B-B14F-4D97-AF65-F5344CB8AC3E}">
        <p14:creationId xmlns:p14="http://schemas.microsoft.com/office/powerpoint/2010/main" val="2552928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979</Words>
  <Application>Microsoft Office PowerPoint</Application>
  <PresentationFormat>Widescreen</PresentationFormat>
  <Paragraphs>145</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Vivek C</dc:creator>
  <cp:lastModifiedBy>Vivek C</cp:lastModifiedBy>
  <cp:revision>12</cp:revision>
  <dcterms:created xsi:type="dcterms:W3CDTF">2025-04-28T10:07:52Z</dcterms:created>
  <dcterms:modified xsi:type="dcterms:W3CDTF">2025-04-28T13:44:36Z</dcterms:modified>
</cp:coreProperties>
</file>